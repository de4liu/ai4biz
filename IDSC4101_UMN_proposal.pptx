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807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7A0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4114800"/>
            <a:ext cx="8942832" cy="73152"/>
          </a:xfrm>
          <a:prstGeom prst="rect">
            <a:avLst/>
          </a:prstGeom>
          <a:solidFill>
            <a:srgbClr val="FFC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0019"/>
                </a:solidFill>
                <a:latin typeface="Raleway"/>
              </a:rPr>
              <a:t>UNIVERSITY OF MINNESOTA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475488"/>
            <a:ext cx="1645920" cy="36576"/>
          </a:xfrm>
          <a:prstGeom prst="rect">
            <a:avLst/>
          </a:prstGeom>
          <a:solidFill>
            <a:srgbClr val="7A0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8580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7A0019"/>
                </a:solidFill>
                <a:latin typeface="Raleway"/>
              </a:rPr>
              <a:t>IDSC 4101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8046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7A0019"/>
                </a:solidFill>
                <a:latin typeface="Raleway"/>
              </a:rPr>
              <a:t>Generative and Agentic
AI for Business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9748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Arial"/>
              </a:rPr>
              <a:t>A 2-credit upper-division course for all business majors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154680"/>
            <a:ext cx="8412480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3246120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Arial"/>
              </a:rPr>
              <a:t>No coding required  ·  7 weeks  ·  14 sessions  ·  Project-based capstone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49039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  <a:latin typeface="Arial"/>
              </a:rPr>
              <a:t>[Your Name]  ·  Carlson School of Management  ·  [Semester Year]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7A0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Raleway"/>
              </a:rPr>
              <a:t>The Gap We're Filling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FFC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4910328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Arial"/>
              </a:rPr>
              <a:t>IDSC 4101 · Generative and Agentic AI for Business · University of Minnesota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005840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  <a:latin typeface="Arial"/>
              </a:rPr>
              <a:t>Business graduates are already using AI — but most lack the vocabulary and judgment to lead with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36192"/>
            <a:ext cx="8595360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6642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A0019"/>
                </a:solidFill>
                <a:latin typeface="Raleway"/>
              </a:rPr>
              <a:t>What students typically have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011680"/>
            <a:ext cx="41148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Arial"/>
              </a:rPr>
              <a:t>✓  Experience using a chatbot interface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Arial"/>
              </a:rPr>
              <a:t>✗  Understanding of why AI behaves as it does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Arial"/>
              </a:rPr>
              <a:t>✗  Ability to spot automation opportunities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Arial"/>
              </a:rPr>
              <a:t>✗  Vocabulary to evaluate vendor claims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Arial"/>
              </a:rPr>
              <a:t>✗  Awareness of responsible AI risks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6642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A0019"/>
                </a:solidFill>
                <a:latin typeface="Raleway"/>
              </a:rPr>
              <a:t>What this course delivers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011680"/>
            <a:ext cx="41148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Arial"/>
              </a:rPr>
              <a:t>✓  Builder + ideation mindset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Arial"/>
              </a:rPr>
              <a:t>✓  Hands-on tool fluency (no coding)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Arial"/>
              </a:rPr>
              <a:t>✓  Workflow automation skills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Arial"/>
              </a:rPr>
              <a:t>✓  Agentic AI literacy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Arial"/>
              </a:rPr>
              <a:t>✓  Responsible AI judgment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1664208"/>
            <a:ext cx="36576" cy="3017520"/>
          </a:xfrm>
          <a:prstGeom prst="rect">
            <a:avLst/>
          </a:prstGeom>
          <a:solidFill>
            <a:srgbClr val="FFC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4572000"/>
            <a:ext cx="8595360" cy="2560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590288"/>
            <a:ext cx="8412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rial"/>
              </a:rPr>
              <a:t>No peer program currently offers a no-code agentic AI course combining conceptual depth + hands-on fluency.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7A0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Raleway"/>
              </a:rPr>
              <a:t>What Makes IDSC 4101 Different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FFC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4910328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Arial"/>
              </a:rPr>
              <a:t>IDSC 4101 · Generative and Agentic AI for Business · University of Minnesota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960120"/>
            <a:ext cx="4160520" cy="530352"/>
          </a:xfrm>
          <a:prstGeom prst="rect">
            <a:avLst/>
          </a:prstGeom>
          <a:solidFill>
            <a:srgbClr val="7A0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960120"/>
            <a:ext cx="4434840" cy="530352"/>
          </a:xfrm>
          <a:prstGeom prst="rect">
            <a:avLst/>
          </a:prstGeom>
          <a:solidFill>
            <a:srgbClr val="7A0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051560"/>
            <a:ext cx="3977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Most AI courses for business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051560"/>
            <a:ext cx="4251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IDSC 4101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1536192"/>
            <a:ext cx="41605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536192"/>
            <a:ext cx="443484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1627632"/>
            <a:ext cx="3977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Arial"/>
              </a:rPr>
              <a:t>Prompt engineering focus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627632"/>
            <a:ext cx="4251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0019"/>
                </a:solidFill>
                <a:latin typeface="Arial"/>
              </a:rPr>
              <a:t>Builder + ideation mindset throughout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2112264"/>
            <a:ext cx="4160520" cy="5303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112264"/>
            <a:ext cx="4434840" cy="5303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2203704"/>
            <a:ext cx="3977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Arial"/>
              </a:rPr>
              <a:t>Lecture and case study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203704"/>
            <a:ext cx="4251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0019"/>
                </a:solidFill>
                <a:latin typeface="Arial"/>
              </a:rPr>
              <a:t>Build sprints every other week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2688336"/>
            <a:ext cx="41605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80560" y="2688336"/>
            <a:ext cx="443484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779776"/>
            <a:ext cx="3977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Arial"/>
              </a:rPr>
              <a:t>No hands-on tool 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79776"/>
            <a:ext cx="4251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0019"/>
                </a:solidFill>
                <a:latin typeface="Arial"/>
              </a:rPr>
              <a:t>Students build automations and agents in class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3264408"/>
            <a:ext cx="4160520" cy="5303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80560" y="3264408"/>
            <a:ext cx="4434840" cy="5303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3355848"/>
            <a:ext cx="3977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Arial"/>
              </a:rPr>
              <a:t>Ethics as a standalone week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355848"/>
            <a:ext cx="4251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0019"/>
                </a:solidFill>
                <a:latin typeface="Arial"/>
              </a:rPr>
              <a:t>Responsible AI woven across all 7 weeks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" y="3840480"/>
            <a:ext cx="41605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3840480"/>
            <a:ext cx="443484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3931920"/>
            <a:ext cx="3977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Arial"/>
              </a:rPr>
              <a:t>One-shot final presentation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3931920"/>
            <a:ext cx="4251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0019"/>
                </a:solidFill>
                <a:latin typeface="Arial"/>
              </a:rPr>
              <a:t>AI Innovation Showcase with external guests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70832" y="960120"/>
            <a:ext cx="54864" cy="3456432"/>
          </a:xfrm>
          <a:prstGeom prst="rect">
            <a:avLst/>
          </a:prstGeom>
          <a:solidFill>
            <a:srgbClr val="FFC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7A0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Raleway"/>
              </a:rPr>
              <a:t>The 7-Week Arc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FFC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4910328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Arial"/>
              </a:rPr>
              <a:t>IDSC 4101 · Generative and Agentic AI for Business · University of Minnesota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987552"/>
            <a:ext cx="2011680" cy="640080"/>
          </a:xfrm>
          <a:prstGeom prst="rect">
            <a:avLst/>
          </a:prstGeom>
          <a:solidFill>
            <a:srgbClr val="7A0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0058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C33"/>
                </a:solidFill>
                <a:latin typeface="Raleway"/>
              </a:rPr>
              <a:t>Wks 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26187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Raleway"/>
              </a:rPr>
              <a:t>Foundations
&amp; Personal 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1627632"/>
            <a:ext cx="2011680" cy="19202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691640"/>
            <a:ext cx="18288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Gemini · NotebookLM
Prompt strategy
Personal productivity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201168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A0019"/>
                </a:solidFill>
                <a:latin typeface="Raleway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23160" y="987552"/>
            <a:ext cx="2011680" cy="640080"/>
          </a:xfrm>
          <a:prstGeom prst="rect">
            <a:avLst/>
          </a:prstGeom>
          <a:solidFill>
            <a:srgbClr val="5A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8879" y="10058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C33"/>
                </a:solidFill>
                <a:latin typeface="Raleway"/>
              </a:rPr>
              <a:t>Wks 3–4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79" y="126187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Raleway"/>
              </a:rPr>
              <a:t>Team Workflows
&amp; Biz Apps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23160" y="1627632"/>
            <a:ext cx="2011680" cy="19202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14600" y="1691640"/>
            <a:ext cx="18288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Zapier / Make
Business function apps
Midterm exam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01168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A0019"/>
                </a:solidFill>
                <a:latin typeface="Raleway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17720" y="987552"/>
            <a:ext cx="2011680" cy="640080"/>
          </a:xfrm>
          <a:prstGeom prst="rect">
            <a:avLst/>
          </a:prstGeom>
          <a:solidFill>
            <a:srgbClr val="990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10058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C33"/>
                </a:solidFill>
                <a:latin typeface="Raleway"/>
              </a:rPr>
              <a:t>Wks 5–6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126187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Raleway"/>
              </a:rPr>
              <a:t>Agentic AI
&amp; Product Thinking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17720" y="1627632"/>
            <a:ext cx="2011680" cy="19202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59" y="1691640"/>
            <a:ext cx="18288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n8n · Voiceflow
Agent blueprints
Build sprint #2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201168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A0019"/>
                </a:solidFill>
                <a:latin typeface="Raleway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12279" y="987552"/>
            <a:ext cx="2011680" cy="640080"/>
          </a:xfrm>
          <a:prstGeom prst="rect">
            <a:avLst/>
          </a:prstGeom>
          <a:solidFill>
            <a:srgbClr val="3D00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7999" y="10058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C33"/>
                </a:solidFill>
                <a:latin typeface="Raleway"/>
              </a:rPr>
              <a:t>Wk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7999" y="126187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Raleway"/>
              </a:rPr>
              <a:t>Strategy,
Ethics &amp; Showcase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12279" y="1627632"/>
            <a:ext cx="2011680" cy="19202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03719" y="1691640"/>
            <a:ext cx="18288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AI strategy frames
Responsible AI session
Capstone pitches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3584448"/>
            <a:ext cx="8686800" cy="36576"/>
          </a:xfrm>
          <a:prstGeom prst="rect">
            <a:avLst/>
          </a:prstGeom>
          <a:solidFill>
            <a:srgbClr val="FFC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8600" y="36576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A0019"/>
                </a:solidFill>
                <a:latin typeface="Raleway"/>
              </a:rPr>
              <a:t>Personal  →  Team  →  Agentic  →  Strategic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" y="400507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Arial"/>
              </a:rPr>
              <a:t>14 sessions  ·  3 Build Sprints  ·  4 Reflection Posts  ·  Midterm + Final Exam  ·  Team Capstone Pitch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7A0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Raleway"/>
              </a:rPr>
              <a:t>Tools Students Use — No Coding Required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FFC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4910328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Arial"/>
              </a:rPr>
              <a:t>IDSC 4101 · Generative and Agentic AI for Business · University of Minnesota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87552"/>
            <a:ext cx="2697480" cy="566928"/>
          </a:xfrm>
          <a:prstGeom prst="rect">
            <a:avLst/>
          </a:prstGeom>
          <a:solidFill>
            <a:srgbClr val="7A0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05840"/>
            <a:ext cx="2514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Raleway"/>
              </a:rPr>
              <a:t>Conversational AI
&amp; Research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554480"/>
            <a:ext cx="2697480" cy="233172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691640"/>
            <a:ext cx="2514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333333"/>
                </a:solidFill>
                <a:latin typeface="Arial"/>
              </a:rPr>
              <a:t>Google Gemini
NotebookLM
Google AI Studio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886200"/>
            <a:ext cx="2697480" cy="347472"/>
          </a:xfrm>
          <a:prstGeom prst="rect">
            <a:avLst/>
          </a:prstGeom>
          <a:solidFill>
            <a:srgbClr val="FFC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913632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A0019"/>
                </a:solidFill>
                <a:latin typeface="Raleway"/>
              </a:rPr>
              <a:t>Weeks 1–3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987552"/>
            <a:ext cx="2697480" cy="566928"/>
          </a:xfrm>
          <a:prstGeom prst="rect">
            <a:avLst/>
          </a:prstGeom>
          <a:solidFill>
            <a:srgbClr val="7A0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1005840"/>
            <a:ext cx="2514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Raleway"/>
              </a:rPr>
              <a:t>No-Code
Automation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554480"/>
            <a:ext cx="2697480" cy="233172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0" y="1691640"/>
            <a:ext cx="2514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333333"/>
                </a:solidFill>
                <a:latin typeface="Arial"/>
              </a:rPr>
              <a:t>Zapier  /  Make
Relevance AI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3886200"/>
            <a:ext cx="2697480" cy="347472"/>
          </a:xfrm>
          <a:prstGeom prst="rect">
            <a:avLst/>
          </a:prstGeom>
          <a:solidFill>
            <a:srgbClr val="FFC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3913632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A0019"/>
                </a:solidFill>
                <a:latin typeface="Raleway"/>
              </a:rPr>
              <a:t>Weeks 3–5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987552"/>
            <a:ext cx="2697480" cy="566928"/>
          </a:xfrm>
          <a:prstGeom prst="rect">
            <a:avLst/>
          </a:prstGeom>
          <a:solidFill>
            <a:srgbClr val="7A0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005840"/>
            <a:ext cx="2514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Raleway"/>
              </a:rPr>
              <a:t>Agentic AI
Platforms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1554480"/>
            <a:ext cx="2697480" cy="233172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1691640"/>
            <a:ext cx="2514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333333"/>
                </a:solidFill>
                <a:latin typeface="Arial"/>
              </a:rPr>
              <a:t>n8n
Voiceflow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3886200"/>
            <a:ext cx="2697480" cy="347472"/>
          </a:xfrm>
          <a:prstGeom prst="rect">
            <a:avLst/>
          </a:prstGeom>
          <a:solidFill>
            <a:srgbClr val="FFC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3913632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A0019"/>
                </a:solidFill>
                <a:latin typeface="Raleway"/>
              </a:rPr>
              <a:t>Weeks 5–6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4315968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77777"/>
                </a:solidFill>
                <a:latin typeface="Arial"/>
              </a:rPr>
              <a:t>All platforms have free tiers sufficient for coursework. Tool categories are durable — specific platforms can be swapped as the landscape evolves.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7A0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Raleway"/>
              </a:rPr>
              <a:t>Assessment: Hybrid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FFC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4910328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Arial"/>
              </a:rPr>
              <a:t>IDSC 4101 · Generative and Agentic AI for Business · University of Minnesota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960120"/>
            <a:ext cx="1005840" cy="685800"/>
          </a:xfrm>
          <a:prstGeom prst="rect">
            <a:avLst/>
          </a:prstGeom>
          <a:solidFill>
            <a:srgbClr val="7A0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1069848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Raleway"/>
              </a:rPr>
              <a:t>20%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25880" y="960120"/>
            <a:ext cx="7589520" cy="685800"/>
          </a:xfrm>
          <a:prstGeom prst="rect">
            <a:avLst/>
          </a:prstGeom>
          <a:solidFill>
            <a:srgbClr val="F5F5F5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99669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A0019"/>
                </a:solidFill>
                <a:latin typeface="Raleway"/>
              </a:rPr>
              <a:t>Reflection Posts ×4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325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Individual · 200–300 words · Bi-weekly · Personal observations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1737360"/>
            <a:ext cx="1005840" cy="685800"/>
          </a:xfrm>
          <a:prstGeom prst="rect">
            <a:avLst/>
          </a:prstGeom>
          <a:solidFill>
            <a:srgbClr val="7A0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" y="1847088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Raleway"/>
              </a:rPr>
              <a:t>25%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25880" y="1737360"/>
            <a:ext cx="758952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63040" y="177393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A0019"/>
                </a:solidFill>
                <a:latin typeface="Raleway"/>
              </a:rPr>
              <a:t>Midterm Conceptual Exam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1031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Take-home · Open-note · Case-based · No coding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2514600"/>
            <a:ext cx="1005840" cy="685800"/>
          </a:xfrm>
          <a:prstGeom prst="rect">
            <a:avLst/>
          </a:prstGeom>
          <a:solidFill>
            <a:srgbClr val="7A0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600" y="2624328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Raleway"/>
              </a:rPr>
              <a:t>25%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25880" y="2514600"/>
            <a:ext cx="7589520" cy="685800"/>
          </a:xfrm>
          <a:prstGeom prst="rect">
            <a:avLst/>
          </a:prstGeom>
          <a:solidFill>
            <a:srgbClr val="F5F5F5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63040" y="255117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A0019"/>
                </a:solidFill>
                <a:latin typeface="Raleway"/>
              </a:rPr>
              <a:t>Final Conceptual Exam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28803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Take-home · Open-note · Integrative cases · Strategy + ethics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3291839"/>
            <a:ext cx="1005840" cy="685800"/>
          </a:xfrm>
          <a:prstGeom prst="rect">
            <a:avLst/>
          </a:prstGeom>
          <a:solidFill>
            <a:srgbClr val="7A0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8600" y="3401568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Raleway"/>
              </a:rPr>
              <a:t>25%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25880" y="3291839"/>
            <a:ext cx="7589520" cy="68580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63040" y="3328415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A0019"/>
                </a:solidFill>
                <a:latin typeface="Raleway"/>
              </a:rPr>
              <a:t>AI Innovation Showcase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365759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Team pitch · No prototype · External guests · Trade show format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" y="4069080"/>
            <a:ext cx="1005840" cy="685800"/>
          </a:xfrm>
          <a:prstGeom prst="rect">
            <a:avLst/>
          </a:prstGeom>
          <a:solidFill>
            <a:srgbClr val="7A0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8600" y="4178808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Raleway"/>
              </a:rPr>
              <a:t>10%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25880" y="4069080"/>
            <a:ext cx="7589520" cy="685800"/>
          </a:xfrm>
          <a:prstGeom prst="rect">
            <a:avLst/>
          </a:prstGeom>
          <a:solidFill>
            <a:srgbClr val="F5F5F5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63040" y="410565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A0019"/>
                </a:solidFill>
                <a:latin typeface="Raleway"/>
              </a:rPr>
              <a:t>Participation + Build Sprints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44348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In-class builds (Wk 3 + Wk 5) · Engagement · Attendance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7A0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09728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Raleway"/>
              </a:rPr>
              <a:t>The AI Innovation Showcase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68580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CC33"/>
                </a:solidFill>
                <a:latin typeface="Raleway"/>
              </a:rPr>
              <a:t>Week 7 · Trade show format · External guests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FFC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4910328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Arial"/>
              </a:rPr>
              <a:t>IDSC 4101 · Generative and Agentic AI for Business · University of Minnesota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987552"/>
            <a:ext cx="8686800" cy="658368"/>
          </a:xfrm>
          <a:prstGeom prst="rect">
            <a:avLst/>
          </a:prstGeom>
          <a:solidFill>
            <a:srgbClr val="F5F5F5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024128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Arial"/>
              </a:rPr>
              <a:t>Teams design an AI-assisted solution to a real business problem — no working prototype required.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Arial"/>
              </a:rPr>
              <a:t>External practitioners rotate through team stations, ask structured questions, and give real feedback.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1737360"/>
            <a:ext cx="1554480" cy="457200"/>
          </a:xfrm>
          <a:prstGeom prst="rect">
            <a:avLst/>
          </a:prstGeom>
          <a:solidFill>
            <a:srgbClr val="7A0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" y="176479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Raleway"/>
              </a:rPr>
              <a:t>Wk 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2194560"/>
            <a:ext cx="1554480" cy="1234440"/>
          </a:xfrm>
          <a:prstGeom prst="rect">
            <a:avLst/>
          </a:prstGeom>
          <a:solidFill>
            <a:srgbClr val="F5F5F5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240280"/>
            <a:ext cx="1463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Arial"/>
              </a:rPr>
              <a:t>Teams form
+ problem
statement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228600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A0019"/>
                </a:solidFill>
                <a:latin typeface="Raleway"/>
              </a:rPr>
              <a:t>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47672" y="1737360"/>
            <a:ext cx="1554480" cy="457200"/>
          </a:xfrm>
          <a:prstGeom prst="rect">
            <a:avLst/>
          </a:prstGeom>
          <a:solidFill>
            <a:srgbClr val="5A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47672" y="176479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Raleway"/>
              </a:rPr>
              <a:t>Wk 5
S1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47672" y="2194560"/>
            <a:ext cx="1554480" cy="1234440"/>
          </a:xfrm>
          <a:prstGeom prst="rect">
            <a:avLst/>
          </a:prstGeom>
          <a:solidFill>
            <a:srgbClr val="F5F5F5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93391" y="2240280"/>
            <a:ext cx="1463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Arial"/>
              </a:rPr>
              <a:t>Solution
design sketch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2152" y="228600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A0019"/>
                </a:solidFill>
                <a:latin typeface="Raleway"/>
              </a:rPr>
              <a:t>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66744" y="1737360"/>
            <a:ext cx="1554480" cy="457200"/>
          </a:xfrm>
          <a:prstGeom prst="rect">
            <a:avLst/>
          </a:prstGeom>
          <a:solidFill>
            <a:srgbClr val="990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66744" y="176479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Raleway"/>
              </a:rPr>
              <a:t>Wk 5
S2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66744" y="2194560"/>
            <a:ext cx="1554480" cy="1234440"/>
          </a:xfrm>
          <a:prstGeom prst="rect">
            <a:avLst/>
          </a:prstGeom>
          <a:solidFill>
            <a:srgbClr val="F5F5F5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12463" y="2240280"/>
            <a:ext cx="1463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Arial"/>
              </a:rPr>
              <a:t>Peer pitch
practice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1224" y="228600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A0019"/>
                </a:solidFill>
                <a:latin typeface="Raleway"/>
              </a:rPr>
              <a:t>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85816" y="1737360"/>
            <a:ext cx="1554480" cy="457200"/>
          </a:xfrm>
          <a:prstGeom prst="rect">
            <a:avLst/>
          </a:prstGeom>
          <a:solidFill>
            <a:srgbClr val="3D00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85816" y="176479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Raleway"/>
              </a:rPr>
              <a:t>Wk 7
S1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85816" y="2194560"/>
            <a:ext cx="1554480" cy="1234440"/>
          </a:xfrm>
          <a:prstGeom prst="rect">
            <a:avLst/>
          </a:prstGeom>
          <a:solidFill>
            <a:srgbClr val="F5F5F5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31536" y="2240280"/>
            <a:ext cx="1463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Arial"/>
              </a:rPr>
              <a:t>Slide deck
submitted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0296" y="228600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A0019"/>
                </a:solidFill>
                <a:latin typeface="Raleway"/>
              </a:rPr>
              <a:t>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04888" y="1737360"/>
            <a:ext cx="1554480" cy="457200"/>
          </a:xfrm>
          <a:prstGeom prst="rect">
            <a:avLst/>
          </a:prstGeom>
          <a:solidFill>
            <a:srgbClr val="7A0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04888" y="176479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C33"/>
                </a:solidFill>
                <a:latin typeface="Raleway"/>
              </a:rPr>
              <a:t>Wk 7
S2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04888" y="2194560"/>
            <a:ext cx="1554480" cy="1234440"/>
          </a:xfrm>
          <a:prstGeom prst="rect">
            <a:avLst/>
          </a:prstGeom>
          <a:solidFill>
            <a:srgbClr val="F5F5F5"/>
          </a:solidFill>
          <a:ln w="381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50607" y="2240280"/>
            <a:ext cx="1463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Arial"/>
              </a:rPr>
              <a:t>AI Innovation
Showcase 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" y="3493008"/>
            <a:ext cx="8686800" cy="36576"/>
          </a:xfrm>
          <a:prstGeom prst="rect">
            <a:avLst/>
          </a:prstGeom>
          <a:solidFill>
            <a:srgbClr val="FFC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8600" y="356616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333333"/>
                </a:solidFill>
                <a:latin typeface="Arial"/>
              </a:rPr>
              <a:t>Rubric: Problem clarity  ·  Solution design  ·  Business value  ·  Responsible AI awareness  ·  Pitch quality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" y="3913632"/>
            <a:ext cx="8686800" cy="621792"/>
          </a:xfrm>
          <a:prstGeom prst="rect">
            <a:avLst/>
          </a:prstGeom>
          <a:solidFill>
            <a:srgbClr val="7A0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395935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CC33"/>
                </a:solidFill>
                <a:latin typeface="Raleway"/>
              </a:rPr>
              <a:t>"The hardest part of any AI project is defining the problem and designing the solution clearly — that's exactly what this format tests, and what employers are hiring for."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7A0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1389888"/>
            <a:ext cx="8942832" cy="54864"/>
          </a:xfrm>
          <a:prstGeom prst="rect">
            <a:avLst/>
          </a:prstGeom>
          <a:solidFill>
            <a:srgbClr val="FFC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0019"/>
                </a:solidFill>
                <a:latin typeface="Raleway"/>
              </a:rPr>
              <a:t>UNIVERSITY OF MINNESOTA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411480"/>
            <a:ext cx="1645920" cy="36576"/>
          </a:xfrm>
          <a:prstGeom prst="rect">
            <a:avLst/>
          </a:prstGeom>
          <a:solidFill>
            <a:srgbClr val="7A0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566928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7A0019"/>
                </a:solidFill>
                <a:latin typeface="Raleway"/>
              </a:rPr>
              <a:t>Ready to Launch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81912"/>
            <a:ext cx="201168" cy="201168"/>
          </a:xfrm>
          <a:prstGeom prst="rect">
            <a:avLst/>
          </a:prstGeom>
          <a:solidFill>
            <a:srgbClr val="FFC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08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Arial"/>
              </a:rPr>
              <a:t>Full 7-week syllabus with session-level detail — complete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75688"/>
            <a:ext cx="201168" cy="201168"/>
          </a:xfrm>
          <a:prstGeom prst="rect">
            <a:avLst/>
          </a:prstGeom>
          <a:solidFill>
            <a:srgbClr val="FFC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02536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Arial"/>
              </a:rPr>
              <a:t>Hybrid model: 2 conceptual exams + capstone pitch + 4 reflection posts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569464"/>
            <a:ext cx="201168" cy="201168"/>
          </a:xfrm>
          <a:prstGeom prst="rect">
            <a:avLst/>
          </a:prstGeom>
          <a:solidFill>
            <a:srgbClr val="FFC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49631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Arial"/>
              </a:rPr>
              <a:t>No coding — accessible to all business concentrations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063240"/>
            <a:ext cx="201168" cy="201168"/>
          </a:xfrm>
          <a:prstGeom prst="rect">
            <a:avLst/>
          </a:prstGeom>
          <a:solidFill>
            <a:srgbClr val="FFC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99008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Arial"/>
              </a:rPr>
              <a:t>All tools have free student tiers; AI Studio coordinated with 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557016"/>
            <a:ext cx="201168" cy="201168"/>
          </a:xfrm>
          <a:prstGeom prst="rect">
            <a:avLst/>
          </a:prstGeom>
          <a:solidFill>
            <a:srgbClr val="FFC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483864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Arial"/>
              </a:rPr>
              <a:t>AI Innovation Showcase creates a high-visibility department event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050791"/>
            <a:ext cx="201168" cy="201168"/>
          </a:xfrm>
          <a:prstGeom prst="rect">
            <a:avLst/>
          </a:prstGeom>
          <a:solidFill>
            <a:srgbClr val="FFC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7763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Arial"/>
              </a:rPr>
              <a:t>Fills a genuine whitespace: no comparable course at peer institutions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553712"/>
            <a:ext cx="8412480" cy="36576"/>
          </a:xfrm>
          <a:prstGeom prst="rect">
            <a:avLst/>
          </a:prstGeom>
          <a:solidFill>
            <a:srgbClr val="7A0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626864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A0019"/>
                </a:solidFill>
                <a:latin typeface="Raleway"/>
              </a:rPr>
              <a:t>Seeking department support to offer IDSC 4101 in [Semester Year].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